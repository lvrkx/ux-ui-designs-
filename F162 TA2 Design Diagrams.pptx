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7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C3"/>
    <a:srgbClr val="FF78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D22912-DEEE-47A6-819F-C57243FDFD46}" v="1761" dt="2026-07-08T12:28:28.089"/>
    <p1510:client id="{DEFA4288-1242-4BB8-8CB9-8179CE2665E0}" v="1383" dt="2026-07-08T10:57:50.0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8A3DBD3-807D-4053-4828-3E48FD878D53}"/>
              </a:ext>
            </a:extLst>
          </p:cNvPr>
          <p:cNvSpPr/>
          <p:nvPr/>
        </p:nvSpPr>
        <p:spPr>
          <a:xfrm>
            <a:off x="3977765" y="71803"/>
            <a:ext cx="1970252" cy="58076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Login page </a:t>
            </a:r>
            <a:endParaRPr lang="en-US"/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776BD883-1EC2-1506-71E9-CE5856831E22}"/>
              </a:ext>
            </a:extLst>
          </p:cNvPr>
          <p:cNvCxnSpPr/>
          <p:nvPr/>
        </p:nvCxnSpPr>
        <p:spPr>
          <a:xfrm>
            <a:off x="6007244" y="359694"/>
            <a:ext cx="1329400" cy="354946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1658D91A-6835-04F1-21D8-5C6102BE45A9}"/>
              </a:ext>
            </a:extLst>
          </p:cNvPr>
          <p:cNvSpPr/>
          <p:nvPr/>
        </p:nvSpPr>
        <p:spPr>
          <a:xfrm>
            <a:off x="7274912" y="537339"/>
            <a:ext cx="1999188" cy="580764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Staff page  </a:t>
            </a:r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A97E3CB-D327-F2FB-110E-54BE4D1513E0}"/>
              </a:ext>
            </a:extLst>
          </p:cNvPr>
          <p:cNvSpPr/>
          <p:nvPr/>
        </p:nvSpPr>
        <p:spPr>
          <a:xfrm>
            <a:off x="3155162" y="1012520"/>
            <a:ext cx="1777340" cy="87013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Customer home pag</a:t>
            </a:r>
            <a:r>
              <a:rPr lang="en-US" dirty="0">
                <a:ea typeface="Calibri"/>
                <a:cs typeface="Calibri"/>
              </a:rPr>
              <a:t>e 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C312D21-125C-41EB-606C-2612E7D98D87}"/>
              </a:ext>
            </a:extLst>
          </p:cNvPr>
          <p:cNvSpPr/>
          <p:nvPr/>
        </p:nvSpPr>
        <p:spPr>
          <a:xfrm>
            <a:off x="10006427" y="1442748"/>
            <a:ext cx="1959333" cy="1264143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Record</a:t>
            </a:r>
            <a:r>
              <a:rPr lang="en-US" dirty="0">
                <a:ea typeface="Calibri"/>
                <a:cs typeface="Calibri"/>
              </a:rPr>
              <a:t> failed delivery attempts</a:t>
            </a:r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97F7121-F02F-E375-AC80-D5B091726BC3}"/>
              </a:ext>
            </a:extLst>
          </p:cNvPr>
          <p:cNvSpPr/>
          <p:nvPr/>
        </p:nvSpPr>
        <p:spPr>
          <a:xfrm>
            <a:off x="9843182" y="164618"/>
            <a:ext cx="2228316" cy="1118551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ea typeface="Calibri"/>
                <a:cs typeface="Calibri"/>
              </a:rPr>
              <a:t>Record completed </a:t>
            </a:r>
            <a:r>
              <a:rPr lang="en-US">
                <a:ea typeface="Calibri"/>
                <a:cs typeface="Calibri"/>
              </a:rPr>
              <a:t>deliveries with proof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2C1FDC0-81A1-319A-8DF1-2CD4D183F866}"/>
              </a:ext>
            </a:extLst>
          </p:cNvPr>
          <p:cNvSpPr/>
          <p:nvPr/>
        </p:nvSpPr>
        <p:spPr>
          <a:xfrm>
            <a:off x="8111518" y="1745761"/>
            <a:ext cx="1833294" cy="85936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ea typeface="Calibri"/>
                <a:cs typeface="Calibri"/>
              </a:rPr>
              <a:t>Send </a:t>
            </a:r>
            <a:r>
              <a:rPr lang="en-US">
                <a:ea typeface="Calibri"/>
                <a:cs typeface="Calibri"/>
              </a:rPr>
              <a:t>notification</a:t>
            </a:r>
            <a:endParaRPr lang="en-US" dirty="0">
              <a:ea typeface="Calibri"/>
              <a:cs typeface="Calibri"/>
            </a:endParaRP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3A7FCB8A-A392-5F68-8CB9-77EC207DD68A}"/>
              </a:ext>
            </a:extLst>
          </p:cNvPr>
          <p:cNvCxnSpPr/>
          <p:nvPr/>
        </p:nvCxnSpPr>
        <p:spPr>
          <a:xfrm>
            <a:off x="9133475" y="1074122"/>
            <a:ext cx="874380" cy="659148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381D0E5-BDE9-09AF-B6F7-A192582CDD2E}"/>
              </a:ext>
            </a:extLst>
          </p:cNvPr>
          <p:cNvCxnSpPr/>
          <p:nvPr/>
        </p:nvCxnSpPr>
        <p:spPr>
          <a:xfrm>
            <a:off x="8300595" y="1162447"/>
            <a:ext cx="525464" cy="57830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B21770D-D30C-2A2B-B13F-BBA56058BC8D}"/>
              </a:ext>
            </a:extLst>
          </p:cNvPr>
          <p:cNvCxnSpPr/>
          <p:nvPr/>
        </p:nvCxnSpPr>
        <p:spPr>
          <a:xfrm flipV="1">
            <a:off x="9294930" y="474944"/>
            <a:ext cx="557371" cy="24098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3771018-CC1B-916A-D036-7C10066BC62C}"/>
              </a:ext>
            </a:extLst>
          </p:cNvPr>
          <p:cNvCxnSpPr/>
          <p:nvPr/>
        </p:nvCxnSpPr>
        <p:spPr>
          <a:xfrm flipH="1">
            <a:off x="699504" y="1775664"/>
            <a:ext cx="470820" cy="47082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579F8637-52EC-C029-3887-B2E4EFBFE6B1}"/>
              </a:ext>
            </a:extLst>
          </p:cNvPr>
          <p:cNvSpPr/>
          <p:nvPr/>
        </p:nvSpPr>
        <p:spPr>
          <a:xfrm>
            <a:off x="5016757" y="3867609"/>
            <a:ext cx="1989543" cy="715802"/>
          </a:xfrm>
          <a:prstGeom prst="ellipse">
            <a:avLst/>
          </a:prstGeom>
          <a:solidFill>
            <a:srgbClr val="FF780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Parcel tracking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7C77CE6-7677-4E25-86D7-50BD89E768EE}"/>
              </a:ext>
            </a:extLst>
          </p:cNvPr>
          <p:cNvSpPr/>
          <p:nvPr/>
        </p:nvSpPr>
        <p:spPr>
          <a:xfrm>
            <a:off x="7582479" y="3886899"/>
            <a:ext cx="1555493" cy="696511"/>
          </a:xfrm>
          <a:prstGeom prst="ellipse">
            <a:avLst/>
          </a:prstGeom>
          <a:solidFill>
            <a:srgbClr val="FF780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cancel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75AEEBA-55E8-6F90-AF9F-9D559362B19A}"/>
              </a:ext>
            </a:extLst>
          </p:cNvPr>
          <p:cNvSpPr/>
          <p:nvPr/>
        </p:nvSpPr>
        <p:spPr>
          <a:xfrm>
            <a:off x="203618" y="1880621"/>
            <a:ext cx="1989543" cy="715802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Parcel collection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7136979-8120-6A61-2666-AD0EA503BD1A}"/>
              </a:ext>
            </a:extLst>
          </p:cNvPr>
          <p:cNvSpPr/>
          <p:nvPr/>
        </p:nvSpPr>
        <p:spPr>
          <a:xfrm>
            <a:off x="1341795" y="134773"/>
            <a:ext cx="1989543" cy="445727"/>
          </a:xfrm>
          <a:prstGeom prst="ellipse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ea typeface="Calibri"/>
              <a:cs typeface="Calibri"/>
            </a:endParaRPr>
          </a:p>
          <a:p>
            <a:pPr algn="ctr"/>
            <a:r>
              <a:rPr lang="en-US">
                <a:ea typeface="Calibri"/>
                <a:cs typeface="Calibri"/>
              </a:rPr>
              <a:t>Notifications</a:t>
            </a:r>
            <a:r>
              <a:rPr lang="en-US" dirty="0">
                <a:ea typeface="Calibri"/>
                <a:cs typeface="Calibri"/>
              </a:rPr>
              <a:t> </a:t>
            </a:r>
            <a:endParaRPr lang="en-US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FBB1FED-4A59-A84C-0428-63FC8B113B5B}"/>
              </a:ext>
            </a:extLst>
          </p:cNvPr>
          <p:cNvSpPr/>
          <p:nvPr/>
        </p:nvSpPr>
        <p:spPr>
          <a:xfrm>
            <a:off x="5769112" y="1195784"/>
            <a:ext cx="1815922" cy="104375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Manage customer profile 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6A01DD7-4F02-BA03-5989-E81883C5CE02}"/>
              </a:ext>
            </a:extLst>
          </p:cNvPr>
          <p:cNvSpPr/>
          <p:nvPr/>
        </p:nvSpPr>
        <p:spPr>
          <a:xfrm>
            <a:off x="2238834" y="2526875"/>
            <a:ext cx="1651948" cy="715801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Customer support 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7F2B038-6B92-0CF6-C511-AD2867A7302E}"/>
              </a:ext>
            </a:extLst>
          </p:cNvPr>
          <p:cNvSpPr/>
          <p:nvPr/>
        </p:nvSpPr>
        <p:spPr>
          <a:xfrm>
            <a:off x="8923214" y="2893407"/>
            <a:ext cx="1844859" cy="841194"/>
          </a:xfrm>
          <a:prstGeom prst="ellipse">
            <a:avLst/>
          </a:prstGeom>
          <a:solidFill>
            <a:srgbClr val="FF780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ea typeface="Calibri"/>
                <a:cs typeface="Calibri"/>
              </a:rPr>
              <a:t>Select </a:t>
            </a:r>
            <a:r>
              <a:rPr lang="en-US" err="1">
                <a:ea typeface="Calibri"/>
                <a:cs typeface="Calibri"/>
              </a:rPr>
              <a:t>ti</a:t>
            </a:r>
            <a:r>
              <a:rPr lang="en-US">
                <a:ea typeface="Calibri"/>
                <a:cs typeface="Calibri"/>
              </a:rPr>
              <a:t>me and date</a:t>
            </a:r>
            <a:endParaRPr lang="en-US" dirty="0">
              <a:ea typeface="Calibri"/>
              <a:cs typeface="Calibri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F8372E8-057E-BA1F-9F16-1164C74FE4D7}"/>
              </a:ext>
            </a:extLst>
          </p:cNvPr>
          <p:cNvCxnSpPr/>
          <p:nvPr/>
        </p:nvCxnSpPr>
        <p:spPr>
          <a:xfrm flipV="1">
            <a:off x="925778" y="403442"/>
            <a:ext cx="592406" cy="40589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165B393-3842-6D22-9ACD-77A1DA10E4D8}"/>
              </a:ext>
            </a:extLst>
          </p:cNvPr>
          <p:cNvCxnSpPr/>
          <p:nvPr/>
        </p:nvCxnSpPr>
        <p:spPr>
          <a:xfrm flipH="1">
            <a:off x="2126790" y="1600010"/>
            <a:ext cx="1010196" cy="43223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64ECF105-01CD-AB17-D96D-AE72B617B731}"/>
              </a:ext>
            </a:extLst>
          </p:cNvPr>
          <p:cNvSpPr/>
          <p:nvPr/>
        </p:nvSpPr>
        <p:spPr>
          <a:xfrm>
            <a:off x="1341796" y="3144193"/>
            <a:ext cx="1314353" cy="6097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cancel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3CCDBFE-067B-559D-F52B-DAB1BCFDD1E0}"/>
              </a:ext>
            </a:extLst>
          </p:cNvPr>
          <p:cNvSpPr/>
          <p:nvPr/>
        </p:nvSpPr>
        <p:spPr>
          <a:xfrm>
            <a:off x="1060" y="3240645"/>
            <a:ext cx="1227545" cy="1246308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ea typeface="Calibri"/>
                <a:cs typeface="Calibri"/>
              </a:rPr>
              <a:t>Select </a:t>
            </a:r>
            <a:r>
              <a:rPr lang="en-US">
                <a:ea typeface="Calibri"/>
                <a:cs typeface="Calibri"/>
              </a:rPr>
              <a:t>time and date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CB506F0-C3C8-519D-3D1C-0071FE955B36}"/>
              </a:ext>
            </a:extLst>
          </p:cNvPr>
          <p:cNvCxnSpPr/>
          <p:nvPr/>
        </p:nvCxnSpPr>
        <p:spPr>
          <a:xfrm>
            <a:off x="1368298" y="2604327"/>
            <a:ext cx="712956" cy="4977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7240C0B-14F3-6B12-66FE-63B2539C692B}"/>
              </a:ext>
            </a:extLst>
          </p:cNvPr>
          <p:cNvCxnSpPr/>
          <p:nvPr/>
        </p:nvCxnSpPr>
        <p:spPr>
          <a:xfrm>
            <a:off x="717021" y="2682747"/>
            <a:ext cx="11419" cy="5535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42F7DE3-85C6-70E1-88A4-5C476086910B}"/>
              </a:ext>
            </a:extLst>
          </p:cNvPr>
          <p:cNvCxnSpPr/>
          <p:nvPr/>
        </p:nvCxnSpPr>
        <p:spPr>
          <a:xfrm>
            <a:off x="4987598" y="1599493"/>
            <a:ext cx="772603" cy="10022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2568A5B-D7F5-4DF6-61D9-410249B742C4}"/>
              </a:ext>
            </a:extLst>
          </p:cNvPr>
          <p:cNvCxnSpPr/>
          <p:nvPr/>
        </p:nvCxnSpPr>
        <p:spPr>
          <a:xfrm flipH="1" flipV="1">
            <a:off x="2900131" y="587564"/>
            <a:ext cx="521080" cy="48656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17E40F94-519F-3BB1-1810-4604DAB857F1}"/>
              </a:ext>
            </a:extLst>
          </p:cNvPr>
          <p:cNvSpPr/>
          <p:nvPr/>
        </p:nvSpPr>
        <p:spPr>
          <a:xfrm>
            <a:off x="5769111" y="2594394"/>
            <a:ext cx="1989543" cy="715802"/>
          </a:xfrm>
          <a:prstGeom prst="ellipse">
            <a:avLst/>
          </a:prstGeom>
          <a:solidFill>
            <a:srgbClr val="FF780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Parcel delivery</a:t>
            </a:r>
            <a:endParaRPr lang="en-US" dirty="0">
              <a:ea typeface="Calibri"/>
              <a:cs typeface="Calibri"/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609085B-8A88-BDBB-4442-764BED96A54A}"/>
              </a:ext>
            </a:extLst>
          </p:cNvPr>
          <p:cNvCxnSpPr/>
          <p:nvPr/>
        </p:nvCxnSpPr>
        <p:spPr>
          <a:xfrm>
            <a:off x="4797121" y="1708144"/>
            <a:ext cx="802278" cy="106141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3D11717-7CB9-C802-8928-A70314BF9040}"/>
              </a:ext>
            </a:extLst>
          </p:cNvPr>
          <p:cNvCxnSpPr/>
          <p:nvPr/>
        </p:nvCxnSpPr>
        <p:spPr>
          <a:xfrm flipH="1">
            <a:off x="4371900" y="3806916"/>
            <a:ext cx="766764" cy="6726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287E28F-E5C7-F06C-F97D-CF857F6E58C5}"/>
              </a:ext>
            </a:extLst>
          </p:cNvPr>
          <p:cNvCxnSpPr/>
          <p:nvPr/>
        </p:nvCxnSpPr>
        <p:spPr>
          <a:xfrm>
            <a:off x="7185221" y="3342412"/>
            <a:ext cx="530169" cy="64185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624AFE1-D955-A9E4-46D7-B746F3401846}"/>
              </a:ext>
            </a:extLst>
          </p:cNvPr>
          <p:cNvCxnSpPr/>
          <p:nvPr/>
        </p:nvCxnSpPr>
        <p:spPr>
          <a:xfrm flipH="1">
            <a:off x="6244694" y="3351801"/>
            <a:ext cx="572817" cy="47817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84E6B36-B553-78AB-57AD-0D2E81416B99}"/>
              </a:ext>
            </a:extLst>
          </p:cNvPr>
          <p:cNvCxnSpPr/>
          <p:nvPr/>
        </p:nvCxnSpPr>
        <p:spPr>
          <a:xfrm>
            <a:off x="7741336" y="3071341"/>
            <a:ext cx="1107129" cy="5506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55350F6A-488D-0516-5D10-170F87D0B128}"/>
              </a:ext>
            </a:extLst>
          </p:cNvPr>
          <p:cNvSpPr/>
          <p:nvPr/>
        </p:nvSpPr>
        <p:spPr>
          <a:xfrm>
            <a:off x="78226" y="848546"/>
            <a:ext cx="1468683" cy="426435"/>
          </a:xfrm>
          <a:prstGeom prst="ellipse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status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4F00992D-BAB1-00B0-5AF6-CEE698FE943E}"/>
              </a:ext>
            </a:extLst>
          </p:cNvPr>
          <p:cNvSpPr/>
          <p:nvPr/>
        </p:nvSpPr>
        <p:spPr>
          <a:xfrm>
            <a:off x="1727617" y="1118621"/>
            <a:ext cx="1343290" cy="368561"/>
          </a:xfrm>
          <a:prstGeom prst="ellipse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Delays</a:t>
            </a:r>
            <a:endParaRPr lang="en-US" dirty="0">
              <a:ea typeface="Calibri"/>
              <a:cs typeface="Calibri"/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50ED17E-71D5-2A59-D37A-FB48F58B6508}"/>
              </a:ext>
            </a:extLst>
          </p:cNvPr>
          <p:cNvCxnSpPr/>
          <p:nvPr/>
        </p:nvCxnSpPr>
        <p:spPr>
          <a:xfrm>
            <a:off x="2386585" y="595695"/>
            <a:ext cx="34775" cy="5213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7034DF3-0C5A-79F6-C9EE-BDEE8D2BB4C4}"/>
              </a:ext>
            </a:extLst>
          </p:cNvPr>
          <p:cNvCxnSpPr/>
          <p:nvPr/>
        </p:nvCxnSpPr>
        <p:spPr>
          <a:xfrm flipH="1">
            <a:off x="3342971" y="1810958"/>
            <a:ext cx="222548" cy="70393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41518DED-6382-7C44-07C6-9C6C5B145B66}"/>
              </a:ext>
            </a:extLst>
          </p:cNvPr>
          <p:cNvSpPr/>
          <p:nvPr/>
        </p:nvSpPr>
        <p:spPr>
          <a:xfrm>
            <a:off x="4216174" y="2960925"/>
            <a:ext cx="1439747" cy="73509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Rate the service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52D663A-DD25-0E7D-FC58-0812DA271432}"/>
              </a:ext>
            </a:extLst>
          </p:cNvPr>
          <p:cNvCxnSpPr/>
          <p:nvPr/>
        </p:nvCxnSpPr>
        <p:spPr>
          <a:xfrm flipH="1" flipV="1">
            <a:off x="4261991" y="1865025"/>
            <a:ext cx="658671" cy="100124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6179BCE8-DE7C-D603-F80F-818364FE8729}"/>
              </a:ext>
            </a:extLst>
          </p:cNvPr>
          <p:cNvSpPr/>
          <p:nvPr/>
        </p:nvSpPr>
        <p:spPr>
          <a:xfrm>
            <a:off x="8547035" y="5266216"/>
            <a:ext cx="3079493" cy="112091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ea typeface="Calibri"/>
                <a:cs typeface="Calibri"/>
              </a:rPr>
              <a:t>Exit system will be </a:t>
            </a:r>
            <a:r>
              <a:rPr lang="en-US">
                <a:ea typeface="Calibri"/>
                <a:cs typeface="Calibri"/>
              </a:rPr>
              <a:t>available</a:t>
            </a:r>
            <a:r>
              <a:rPr lang="en-US" dirty="0">
                <a:ea typeface="Calibri"/>
                <a:cs typeface="Calibri"/>
              </a:rPr>
              <a:t> from each page 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21EB075-30E5-DE88-9E1E-E3D1AA78DE0F}"/>
              </a:ext>
            </a:extLst>
          </p:cNvPr>
          <p:cNvCxnSpPr/>
          <p:nvPr/>
        </p:nvCxnSpPr>
        <p:spPr>
          <a:xfrm flipH="1">
            <a:off x="4708200" y="686052"/>
            <a:ext cx="417012" cy="34975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026CDDF-7A9E-97D6-E1FA-FDBD9394398B}"/>
              </a:ext>
            </a:extLst>
          </p:cNvPr>
          <p:cNvCxnSpPr/>
          <p:nvPr/>
        </p:nvCxnSpPr>
        <p:spPr>
          <a:xfrm>
            <a:off x="3926209" y="1944962"/>
            <a:ext cx="92612" cy="190219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ED0C6329-38BF-D71C-AA7E-D77BCF7B6438}"/>
              </a:ext>
            </a:extLst>
          </p:cNvPr>
          <p:cNvSpPr/>
          <p:nvPr/>
        </p:nvSpPr>
        <p:spPr>
          <a:xfrm>
            <a:off x="3203389" y="3906191"/>
            <a:ext cx="1266125" cy="580765"/>
          </a:xfrm>
          <a:prstGeom prst="ellipse">
            <a:avLst/>
          </a:prstGeom>
          <a:solidFill>
            <a:srgbClr val="FF00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send</a:t>
            </a:r>
            <a:endParaRPr lang="en-US" dirty="0">
              <a:ea typeface="Calibri"/>
              <a:cs typeface="Calibri"/>
            </a:endParaRP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A59FAF8-AC3A-58E8-A4D4-30F7C13431C6}"/>
              </a:ext>
            </a:extLst>
          </p:cNvPr>
          <p:cNvCxnSpPr/>
          <p:nvPr/>
        </p:nvCxnSpPr>
        <p:spPr>
          <a:xfrm flipH="1">
            <a:off x="2962612" y="4524416"/>
            <a:ext cx="625189" cy="30455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904FD39A-0E4E-2BD7-B3D0-17713C75D1D9}"/>
              </a:ext>
            </a:extLst>
          </p:cNvPr>
          <p:cNvSpPr/>
          <p:nvPr/>
        </p:nvSpPr>
        <p:spPr>
          <a:xfrm>
            <a:off x="2113441" y="4880393"/>
            <a:ext cx="1545846" cy="754385"/>
          </a:xfrm>
          <a:prstGeom prst="ellipse">
            <a:avLst/>
          </a:prstGeom>
          <a:solidFill>
            <a:srgbClr val="FF00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ea typeface="Calibri"/>
                <a:cs typeface="Calibri"/>
              </a:rPr>
              <a:t>Use rate </a:t>
            </a:r>
            <a:r>
              <a:rPr lang="en-US" dirty="0" err="1">
                <a:ea typeface="Calibri"/>
                <a:cs typeface="Calibri"/>
              </a:rPr>
              <a:t>calulator</a:t>
            </a:r>
          </a:p>
        </p:txBody>
      </p:sp>
    </p:spTree>
    <p:extLst>
      <p:ext uri="{BB962C8B-B14F-4D97-AF65-F5344CB8AC3E}">
        <p14:creationId xmlns:p14="http://schemas.microsoft.com/office/powerpoint/2010/main" val="960901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2ACC8C94-BA46-BA81-A4BC-A1CCCEAD4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960891"/>
            <a:ext cx="4542971" cy="442096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A9DB203-7036-DFE4-5232-9824376F36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3" r="-1287" b="2376"/>
          <a:stretch>
            <a:fillRect/>
          </a:stretch>
        </p:blipFill>
        <p:spPr>
          <a:xfrm>
            <a:off x="-2419" y="1193483"/>
            <a:ext cx="4671129" cy="4324191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ADA8FA7-E3E2-FFD5-1209-5388E166E990}"/>
              </a:ext>
            </a:extLst>
          </p:cNvPr>
          <p:cNvCxnSpPr/>
          <p:nvPr/>
        </p:nvCxnSpPr>
        <p:spPr>
          <a:xfrm>
            <a:off x="2123490" y="1954296"/>
            <a:ext cx="3184746" cy="70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4CF3637-6FD8-6699-2745-A29CA550D39D}"/>
              </a:ext>
            </a:extLst>
          </p:cNvPr>
          <p:cNvSpPr txBox="1"/>
          <p:nvPr/>
        </p:nvSpPr>
        <p:spPr>
          <a:xfrm>
            <a:off x="5302539" y="1653689"/>
            <a:ext cx="200203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ea typeface="Calibri"/>
                <a:cs typeface="Calibri"/>
              </a:rPr>
              <a:t>Brand identity which makes the customers </a:t>
            </a:r>
            <a:r>
              <a:rPr lang="en-US" sz="1200">
                <a:ea typeface="Calibri"/>
                <a:cs typeface="Calibri"/>
              </a:rPr>
              <a:t>recognize</a:t>
            </a:r>
            <a:r>
              <a:rPr lang="en-US" sz="1200" dirty="0">
                <a:ea typeface="Calibri"/>
                <a:cs typeface="Calibri"/>
              </a:rPr>
              <a:t> the app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82289AD-C783-C3A6-6C20-7A9B05DEEE0A}"/>
              </a:ext>
            </a:extLst>
          </p:cNvPr>
          <p:cNvCxnSpPr/>
          <p:nvPr/>
        </p:nvCxnSpPr>
        <p:spPr>
          <a:xfrm flipV="1">
            <a:off x="3819847" y="1105697"/>
            <a:ext cx="1459305" cy="9636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7481DD9-D455-4E57-F4FE-0E552F19E0FC}"/>
              </a:ext>
            </a:extLst>
          </p:cNvPr>
          <p:cNvSpPr txBox="1"/>
          <p:nvPr/>
        </p:nvSpPr>
        <p:spPr>
          <a:xfrm>
            <a:off x="5103322" y="732097"/>
            <a:ext cx="129431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ea typeface="Calibri"/>
                <a:cs typeface="Calibri"/>
              </a:rPr>
              <a:t>Name of the </a:t>
            </a:r>
            <a:r>
              <a:rPr lang="en-US" sz="1200">
                <a:ea typeface="Calibri"/>
                <a:cs typeface="Calibri"/>
              </a:rPr>
              <a:t>company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BA1C85D-E460-9945-1546-489D016437E3}"/>
              </a:ext>
            </a:extLst>
          </p:cNvPr>
          <p:cNvCxnSpPr/>
          <p:nvPr/>
        </p:nvCxnSpPr>
        <p:spPr>
          <a:xfrm flipH="1">
            <a:off x="7157661" y="1859290"/>
            <a:ext cx="1336745" cy="12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47FB5FC-53E6-7895-7220-425601FBE363}"/>
              </a:ext>
            </a:extLst>
          </p:cNvPr>
          <p:cNvCxnSpPr/>
          <p:nvPr/>
        </p:nvCxnSpPr>
        <p:spPr>
          <a:xfrm flipH="1" flipV="1">
            <a:off x="5881678" y="996482"/>
            <a:ext cx="3305405" cy="8020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4813850-C48E-6788-0FC0-315A1696D9D1}"/>
              </a:ext>
            </a:extLst>
          </p:cNvPr>
          <p:cNvCxnSpPr/>
          <p:nvPr/>
        </p:nvCxnSpPr>
        <p:spPr>
          <a:xfrm>
            <a:off x="3779343" y="2892230"/>
            <a:ext cx="1409658" cy="36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95E5202-370A-FA0F-BDD9-A300CE868EBF}"/>
              </a:ext>
            </a:extLst>
          </p:cNvPr>
          <p:cNvSpPr txBox="1"/>
          <p:nvPr/>
        </p:nvSpPr>
        <p:spPr>
          <a:xfrm>
            <a:off x="5298713" y="2678214"/>
            <a:ext cx="189574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ea typeface="Calibri"/>
                <a:cs typeface="Calibri"/>
              </a:rPr>
              <a:t>Users and staff input their email in order to log in</a:t>
            </a:r>
            <a:endParaRPr lang="en-US" sz="1400" dirty="0"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9227674-6C2A-630F-4A0C-E2E584D26F33}"/>
              </a:ext>
            </a:extLst>
          </p:cNvPr>
          <p:cNvCxnSpPr/>
          <p:nvPr/>
        </p:nvCxnSpPr>
        <p:spPr>
          <a:xfrm flipH="1">
            <a:off x="7048292" y="2819317"/>
            <a:ext cx="1543332" cy="1215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1D51CE9-94E4-4FED-0D8D-3FD86477E12E}"/>
              </a:ext>
            </a:extLst>
          </p:cNvPr>
          <p:cNvCxnSpPr/>
          <p:nvPr/>
        </p:nvCxnSpPr>
        <p:spPr>
          <a:xfrm>
            <a:off x="3776980" y="3477385"/>
            <a:ext cx="1263660" cy="322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D7A0024-0ED4-C481-C431-72531F50D88F}"/>
              </a:ext>
            </a:extLst>
          </p:cNvPr>
          <p:cNvSpPr txBox="1"/>
          <p:nvPr/>
        </p:nvSpPr>
        <p:spPr>
          <a:xfrm>
            <a:off x="5203686" y="3332243"/>
            <a:ext cx="1882226" cy="668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ea typeface="Calibri"/>
                <a:cs typeface="Calibri"/>
              </a:rPr>
              <a:t>Users and staff input their </a:t>
            </a:r>
            <a:r>
              <a:rPr lang="en-US" sz="1200">
                <a:ea typeface="Calibri"/>
                <a:cs typeface="Calibri"/>
              </a:rPr>
              <a:t>password to enter their account</a:t>
            </a:r>
            <a:endParaRPr lang="en-US" sz="1400" dirty="0">
              <a:ea typeface="Calibri"/>
              <a:cs typeface="Calibri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3978D91-3372-4736-6618-76180A30339D}"/>
              </a:ext>
            </a:extLst>
          </p:cNvPr>
          <p:cNvCxnSpPr>
            <a:cxnSpLocks/>
          </p:cNvCxnSpPr>
          <p:nvPr/>
        </p:nvCxnSpPr>
        <p:spPr>
          <a:xfrm flipH="1">
            <a:off x="7041034" y="3182174"/>
            <a:ext cx="1572360" cy="3247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0906688-6C85-32CF-1A87-D1CA08D0154E}"/>
              </a:ext>
            </a:extLst>
          </p:cNvPr>
          <p:cNvCxnSpPr/>
          <p:nvPr/>
        </p:nvCxnSpPr>
        <p:spPr>
          <a:xfrm>
            <a:off x="3610889" y="4033513"/>
            <a:ext cx="1567542" cy="537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5C53AC4-AF3B-A31E-780E-7EBE07794136}"/>
              </a:ext>
            </a:extLst>
          </p:cNvPr>
          <p:cNvSpPr txBox="1"/>
          <p:nvPr/>
        </p:nvSpPr>
        <p:spPr>
          <a:xfrm>
            <a:off x="5060735" y="4153871"/>
            <a:ext cx="237300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ea typeface="Calibri"/>
                <a:cs typeface="Calibri"/>
              </a:rPr>
              <a:t>Users and staff can reset their password if they can not remember it </a:t>
            </a:r>
            <a:endParaRPr lang="en-US" dirty="0">
              <a:ea typeface="Calibri"/>
              <a:cs typeface="Calibri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D6FEAE9-86B7-4BD0-5165-316CE476E56C}"/>
              </a:ext>
            </a:extLst>
          </p:cNvPr>
          <p:cNvCxnSpPr>
            <a:cxnSpLocks/>
          </p:cNvCxnSpPr>
          <p:nvPr/>
        </p:nvCxnSpPr>
        <p:spPr>
          <a:xfrm flipH="1">
            <a:off x="7135377" y="3704688"/>
            <a:ext cx="1615903" cy="7166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8799570-C71E-2D18-4B9B-9F73B2B7528A}"/>
              </a:ext>
            </a:extLst>
          </p:cNvPr>
          <p:cNvCxnSpPr/>
          <p:nvPr/>
        </p:nvCxnSpPr>
        <p:spPr>
          <a:xfrm>
            <a:off x="3282780" y="4689392"/>
            <a:ext cx="1890167" cy="711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30A1586-481E-7629-7834-7475D03A1809}"/>
              </a:ext>
            </a:extLst>
          </p:cNvPr>
          <p:cNvCxnSpPr>
            <a:cxnSpLocks/>
          </p:cNvCxnSpPr>
          <p:nvPr/>
        </p:nvCxnSpPr>
        <p:spPr>
          <a:xfrm flipH="1">
            <a:off x="7091835" y="4502974"/>
            <a:ext cx="1347389" cy="8980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180BE0C-22AC-4DA6-1F33-1519EDC8E43A}"/>
              </a:ext>
            </a:extLst>
          </p:cNvPr>
          <p:cNvSpPr txBox="1"/>
          <p:nvPr/>
        </p:nvSpPr>
        <p:spPr>
          <a:xfrm>
            <a:off x="5186639" y="5191534"/>
            <a:ext cx="192005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ea typeface="Calibri"/>
                <a:cs typeface="Calibri"/>
              </a:rPr>
              <a:t>Takes users and staff to the </a:t>
            </a:r>
            <a:r>
              <a:rPr lang="en-US" sz="1200">
                <a:ea typeface="Calibri"/>
                <a:cs typeface="Calibri"/>
              </a:rPr>
              <a:t>homepage if their details are correct</a:t>
            </a:r>
            <a:endParaRPr lang="en-US" sz="1400" dirty="0">
              <a:ea typeface="Calibri"/>
              <a:cs typeface="Calibri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47C9A66-E3F6-AFAB-F0A0-82D4F9EE3C3A}"/>
              </a:ext>
            </a:extLst>
          </p:cNvPr>
          <p:cNvCxnSpPr>
            <a:cxnSpLocks/>
          </p:cNvCxnSpPr>
          <p:nvPr/>
        </p:nvCxnSpPr>
        <p:spPr>
          <a:xfrm flipH="1">
            <a:off x="9051262" y="4481202"/>
            <a:ext cx="774076" cy="9343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C374645-3CC8-C0C8-85FD-77305356D2A5}"/>
              </a:ext>
            </a:extLst>
          </p:cNvPr>
          <p:cNvSpPr txBox="1"/>
          <p:nvPr/>
        </p:nvSpPr>
        <p:spPr>
          <a:xfrm>
            <a:off x="8053260" y="5422940"/>
            <a:ext cx="2601678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ea typeface="Calibri"/>
                <a:cs typeface="Calibri"/>
              </a:rPr>
              <a:t>If the user does not have an account it will take the user to the register page where they are made to create an account.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EAB810F-1260-0E21-F61E-425102DE3989}"/>
              </a:ext>
            </a:extLst>
          </p:cNvPr>
          <p:cNvCxnSpPr/>
          <p:nvPr/>
        </p:nvCxnSpPr>
        <p:spPr>
          <a:xfrm flipH="1">
            <a:off x="1448648" y="2464540"/>
            <a:ext cx="1537411" cy="677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27CFFBE-E940-C14D-36C2-EDD5050699D4}"/>
              </a:ext>
            </a:extLst>
          </p:cNvPr>
          <p:cNvSpPr txBox="1"/>
          <p:nvPr/>
        </p:nvSpPr>
        <p:spPr>
          <a:xfrm>
            <a:off x="400681" y="2865906"/>
            <a:ext cx="121385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ea typeface="Calibri"/>
                <a:cs typeface="Calibri"/>
              </a:rPr>
              <a:t>Title which </a:t>
            </a:r>
            <a:r>
              <a:rPr lang="en-US" sz="1200" dirty="0">
                <a:ea typeface="Calibri"/>
                <a:cs typeface="Calibri"/>
              </a:rPr>
              <a:t>is directed to the staff's role</a:t>
            </a:r>
            <a:endParaRPr lang="en-US" sz="1200"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B442D90-284D-CD48-6133-1D37F1BE1A3B}"/>
              </a:ext>
            </a:extLst>
          </p:cNvPr>
          <p:cNvCxnSpPr/>
          <p:nvPr/>
        </p:nvCxnSpPr>
        <p:spPr>
          <a:xfrm flipH="1" flipV="1">
            <a:off x="1482571" y="2284618"/>
            <a:ext cx="644068" cy="97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A6ADB3E-DA7D-A3A2-9E76-D70AE05908FD}"/>
              </a:ext>
            </a:extLst>
          </p:cNvPr>
          <p:cNvSpPr txBox="1"/>
          <p:nvPr/>
        </p:nvSpPr>
        <p:spPr>
          <a:xfrm>
            <a:off x="665326" y="2137937"/>
            <a:ext cx="81419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ea typeface="Calibri"/>
                <a:cs typeface="Calibri"/>
              </a:rPr>
              <a:t>Staff page</a:t>
            </a:r>
            <a:endParaRPr lang="en-US" sz="14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6367D18-DC87-B483-1693-6ABF1679EB89}"/>
              </a:ext>
            </a:extLst>
          </p:cNvPr>
          <p:cNvSpPr txBox="1"/>
          <p:nvPr/>
        </p:nvSpPr>
        <p:spPr>
          <a:xfrm>
            <a:off x="11128736" y="2131363"/>
            <a:ext cx="80642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ea typeface="Calibri"/>
                <a:cs typeface="Calibri"/>
              </a:rPr>
              <a:t>Customer page</a:t>
            </a:r>
            <a:endParaRPr lang="en-US" sz="120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A7CA66B-BDA9-AB41-5FF8-9D2370A556A9}"/>
              </a:ext>
            </a:extLst>
          </p:cNvPr>
          <p:cNvCxnSpPr/>
          <p:nvPr/>
        </p:nvCxnSpPr>
        <p:spPr>
          <a:xfrm>
            <a:off x="9867609" y="2187401"/>
            <a:ext cx="1178766" cy="1093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3942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E647C73-C5BE-E7DB-13A3-601C2BDB0D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539" b="-188"/>
          <a:stretch>
            <a:fillRect/>
          </a:stretch>
        </p:blipFill>
        <p:spPr>
          <a:xfrm>
            <a:off x="3184753" y="1497921"/>
            <a:ext cx="4893861" cy="4021822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7C0AA25-82CD-903B-0AD8-5F24FD19585D}"/>
              </a:ext>
            </a:extLst>
          </p:cNvPr>
          <p:cNvCxnSpPr/>
          <p:nvPr/>
        </p:nvCxnSpPr>
        <p:spPr>
          <a:xfrm>
            <a:off x="6832294" y="3536199"/>
            <a:ext cx="1503701" cy="1172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B0B504-E341-3E5C-1C47-73D1DE5B19D3}"/>
              </a:ext>
            </a:extLst>
          </p:cNvPr>
          <p:cNvSpPr txBox="1"/>
          <p:nvPr/>
        </p:nvSpPr>
        <p:spPr>
          <a:xfrm>
            <a:off x="8299189" y="4528601"/>
            <a:ext cx="202634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ea typeface="Calibri"/>
                <a:cs typeface="Calibri"/>
              </a:rPr>
              <a:t>Book delivery which takes the </a:t>
            </a:r>
            <a:r>
              <a:rPr lang="en-US" sz="1200">
                <a:ea typeface="Calibri"/>
                <a:cs typeface="Calibri"/>
              </a:rPr>
              <a:t>user to the booking page.</a:t>
            </a:r>
            <a:endParaRPr lang="en-US" sz="1200" dirty="0">
              <a:ea typeface="Calibri"/>
              <a:cs typeface="Calibri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2542D2E-96FF-E9BD-8B98-63940C74A8DE}"/>
              </a:ext>
            </a:extLst>
          </p:cNvPr>
          <p:cNvCxnSpPr/>
          <p:nvPr/>
        </p:nvCxnSpPr>
        <p:spPr>
          <a:xfrm flipH="1" flipV="1">
            <a:off x="6132090" y="1379189"/>
            <a:ext cx="169746" cy="6577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3126C6B-6901-91D5-6D0E-39DDC3A4C15E}"/>
              </a:ext>
            </a:extLst>
          </p:cNvPr>
          <p:cNvSpPr txBox="1"/>
          <p:nvPr/>
        </p:nvSpPr>
        <p:spPr>
          <a:xfrm>
            <a:off x="5747815" y="773329"/>
            <a:ext cx="1421626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ea typeface="Calibri"/>
                <a:cs typeface="Calibri"/>
              </a:rPr>
              <a:t>Shows the user the name of the company 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A7FC34D-0715-187E-DF0A-FA5EBE59E3A8}"/>
              </a:ext>
            </a:extLst>
          </p:cNvPr>
          <p:cNvCxnSpPr/>
          <p:nvPr/>
        </p:nvCxnSpPr>
        <p:spPr>
          <a:xfrm flipH="1">
            <a:off x="4583153" y="2143049"/>
            <a:ext cx="509239" cy="116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607752C-55A8-4A6A-1C29-6154EFEAFC0A}"/>
              </a:ext>
            </a:extLst>
          </p:cNvPr>
          <p:cNvSpPr txBox="1"/>
          <p:nvPr/>
        </p:nvSpPr>
        <p:spPr>
          <a:xfrm>
            <a:off x="2914331" y="1968321"/>
            <a:ext cx="218850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ea typeface="Calibri"/>
                <a:cs typeface="Calibri"/>
              </a:rPr>
              <a:t>Brand identity to make it recognizable </a:t>
            </a:r>
            <a:r>
              <a:rPr lang="en-US" sz="1200">
                <a:ea typeface="Calibri"/>
                <a:cs typeface="Calibri"/>
              </a:rPr>
              <a:t>to the user</a:t>
            </a:r>
            <a:endParaRPr lang="en-US" sz="1600" dirty="0">
              <a:ea typeface="Calibri"/>
              <a:cs typeface="Calibri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422E807-765F-64EF-084E-E6F461E26AE5}"/>
              </a:ext>
            </a:extLst>
          </p:cNvPr>
          <p:cNvCxnSpPr/>
          <p:nvPr/>
        </p:nvCxnSpPr>
        <p:spPr>
          <a:xfrm flipV="1">
            <a:off x="7659255" y="1555120"/>
            <a:ext cx="50899" cy="5633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3F2A68C-BA50-AECC-DDD1-BAA5932D8393}"/>
              </a:ext>
            </a:extLst>
          </p:cNvPr>
          <p:cNvSpPr txBox="1"/>
          <p:nvPr/>
        </p:nvSpPr>
        <p:spPr>
          <a:xfrm>
            <a:off x="7405940" y="1069379"/>
            <a:ext cx="241800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ea typeface="Calibri"/>
                <a:cs typeface="Calibri"/>
              </a:rPr>
              <a:t>User profile where they can </a:t>
            </a:r>
            <a:r>
              <a:rPr lang="en-US" sz="1200">
                <a:ea typeface="Calibri"/>
                <a:cs typeface="Calibri"/>
              </a:rPr>
              <a:t>store and edit their information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F22E80F-2E74-896F-AF28-59D5BB96C191}"/>
              </a:ext>
            </a:extLst>
          </p:cNvPr>
          <p:cNvCxnSpPr/>
          <p:nvPr/>
        </p:nvCxnSpPr>
        <p:spPr>
          <a:xfrm flipH="1">
            <a:off x="4551326" y="2715943"/>
            <a:ext cx="519848" cy="169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E4CA1B2-119F-F713-F5A5-61705878A78C}"/>
              </a:ext>
            </a:extLst>
          </p:cNvPr>
          <p:cNvSpPr txBox="1"/>
          <p:nvPr/>
        </p:nvSpPr>
        <p:spPr>
          <a:xfrm>
            <a:off x="1966345" y="2669082"/>
            <a:ext cx="287751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ea typeface="Calibri"/>
                <a:cs typeface="Calibri"/>
              </a:rPr>
              <a:t>Takes the user to the </a:t>
            </a:r>
            <a:r>
              <a:rPr lang="en-US" sz="1200" dirty="0" err="1">
                <a:ea typeface="Calibri"/>
                <a:cs typeface="Calibri"/>
              </a:rPr>
              <a:t>notfication</a:t>
            </a:r>
            <a:r>
              <a:rPr lang="en-US" sz="1200" dirty="0">
                <a:ea typeface="Calibri"/>
                <a:cs typeface="Calibri"/>
              </a:rPr>
              <a:t> page where they receive updates of their parcel and any important messages from the courier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4313F19-3299-74E8-1342-E97DD42AD403}"/>
              </a:ext>
            </a:extLst>
          </p:cNvPr>
          <p:cNvCxnSpPr/>
          <p:nvPr/>
        </p:nvCxnSpPr>
        <p:spPr>
          <a:xfrm flipV="1">
            <a:off x="6970213" y="2127495"/>
            <a:ext cx="1186013" cy="3930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21FBF30-540C-477B-2E53-657D907C24CE}"/>
              </a:ext>
            </a:extLst>
          </p:cNvPr>
          <p:cNvSpPr txBox="1"/>
          <p:nvPr/>
        </p:nvSpPr>
        <p:spPr>
          <a:xfrm>
            <a:off x="8161824" y="1773520"/>
            <a:ext cx="332313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ea typeface="Calibri"/>
                <a:cs typeface="Calibri"/>
              </a:rPr>
              <a:t>Tracking parcel which </a:t>
            </a:r>
            <a:r>
              <a:rPr lang="en-US" sz="1200" err="1">
                <a:ea typeface="Calibri"/>
                <a:cs typeface="Calibri"/>
              </a:rPr>
              <a:t>wil</a:t>
            </a:r>
            <a:r>
              <a:rPr lang="en-US" sz="1200" dirty="0">
                <a:ea typeface="Calibri"/>
                <a:cs typeface="Calibri"/>
              </a:rPr>
              <a:t>l take the user to a map where </a:t>
            </a:r>
            <a:r>
              <a:rPr lang="en-US" sz="1200">
                <a:ea typeface="Calibri"/>
                <a:cs typeface="Calibri"/>
              </a:rPr>
              <a:t>they can see where their parcel is and any </a:t>
            </a:r>
            <a:r>
              <a:rPr lang="en-US" sz="1200" dirty="0">
                <a:ea typeface="Calibri"/>
                <a:cs typeface="Calibri"/>
              </a:rPr>
              <a:t>updates about where their parcel has arrived.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9DBB0D4-D364-9B42-6885-12F4EF8B6058}"/>
              </a:ext>
            </a:extLst>
          </p:cNvPr>
          <p:cNvCxnSpPr/>
          <p:nvPr/>
        </p:nvCxnSpPr>
        <p:spPr>
          <a:xfrm flipV="1">
            <a:off x="7903818" y="2737160"/>
            <a:ext cx="445584" cy="848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D268410-16BB-391E-6AA4-20941431A6D9}"/>
              </a:ext>
            </a:extLst>
          </p:cNvPr>
          <p:cNvSpPr txBox="1"/>
          <p:nvPr/>
        </p:nvSpPr>
        <p:spPr>
          <a:xfrm>
            <a:off x="8363916" y="2444043"/>
            <a:ext cx="314173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ea typeface="Calibri"/>
                <a:cs typeface="Calibri"/>
              </a:rPr>
              <a:t>Calculator page</a:t>
            </a:r>
            <a:r>
              <a:rPr lang="en-US" sz="1200" dirty="0">
                <a:ea typeface="Calibri"/>
                <a:cs typeface="Calibri"/>
              </a:rPr>
              <a:t> where the user can weigh and measure their parcel to calculate the price.</a:t>
            </a:r>
            <a:endParaRPr lang="en-US" sz="12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8E31AE0-CDC0-0EA0-412B-612AFE331FCC}"/>
              </a:ext>
            </a:extLst>
          </p:cNvPr>
          <p:cNvCxnSpPr/>
          <p:nvPr/>
        </p:nvCxnSpPr>
        <p:spPr>
          <a:xfrm>
            <a:off x="7033868" y="3044827"/>
            <a:ext cx="1315534" cy="1909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9BF227E-B04E-D8E0-4AE3-DE7C9F0280D8}"/>
              </a:ext>
            </a:extLst>
          </p:cNvPr>
          <p:cNvSpPr txBox="1"/>
          <p:nvPr/>
        </p:nvSpPr>
        <p:spPr>
          <a:xfrm>
            <a:off x="8298083" y="3011340"/>
            <a:ext cx="204756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ea typeface="Calibri"/>
                <a:cs typeface="Calibri"/>
              </a:rPr>
              <a:t>Allows user to access any tabs </a:t>
            </a:r>
            <a:r>
              <a:rPr lang="en-US" sz="1200" dirty="0">
                <a:ea typeface="Calibri"/>
                <a:cs typeface="Calibri"/>
              </a:rPr>
              <a:t>in a much faster way</a:t>
            </a:r>
            <a:endParaRPr lang="en-US" sz="12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241CC68-FA44-DBDB-C74B-7E2700378FB3}"/>
              </a:ext>
            </a:extLst>
          </p:cNvPr>
          <p:cNvCxnSpPr/>
          <p:nvPr/>
        </p:nvCxnSpPr>
        <p:spPr>
          <a:xfrm>
            <a:off x="7967473" y="3596502"/>
            <a:ext cx="434975" cy="2015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F20C5A1-70BC-3AB4-D31D-D9D88A69A399}"/>
              </a:ext>
            </a:extLst>
          </p:cNvPr>
          <p:cNvSpPr txBox="1"/>
          <p:nvPr/>
        </p:nvSpPr>
        <p:spPr>
          <a:xfrm>
            <a:off x="8361737" y="3695890"/>
            <a:ext cx="343817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ea typeface="Calibri"/>
                <a:cs typeface="Calibri"/>
              </a:rPr>
              <a:t>A mini pop up where the user can rate the service in order for the company to gather feedback and improve reputation.</a:t>
            </a:r>
            <a:endParaRPr lang="en-US" sz="120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AAEB4EC-2C78-E971-8D60-C3CBE408A7BB}"/>
              </a:ext>
            </a:extLst>
          </p:cNvPr>
          <p:cNvCxnSpPr/>
          <p:nvPr/>
        </p:nvCxnSpPr>
        <p:spPr>
          <a:xfrm flipH="1">
            <a:off x="4381580" y="3501019"/>
            <a:ext cx="668376" cy="4349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33A8197-12C1-CEEF-8BD1-2236E5E845C9}"/>
              </a:ext>
            </a:extLst>
          </p:cNvPr>
          <p:cNvSpPr txBox="1"/>
          <p:nvPr/>
        </p:nvSpPr>
        <p:spPr>
          <a:xfrm>
            <a:off x="1935104" y="3564189"/>
            <a:ext cx="2619542" cy="6535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ea typeface="Calibri"/>
                <a:cs typeface="Calibri"/>
              </a:rPr>
              <a:t>Booking page which takes the user to where all their booking they’ve made are </a:t>
            </a:r>
            <a:r>
              <a:rPr lang="en-US" sz="1200">
                <a:ea typeface="Calibri"/>
                <a:cs typeface="Calibri"/>
              </a:rPr>
              <a:t>stored.</a:t>
            </a:r>
            <a:endParaRPr lang="en-US" sz="1400" dirty="0"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55B6DC6-43F7-F3B3-29E3-CC848C2682DA}"/>
              </a:ext>
            </a:extLst>
          </p:cNvPr>
          <p:cNvCxnSpPr/>
          <p:nvPr/>
        </p:nvCxnSpPr>
        <p:spPr>
          <a:xfrm flipH="1">
            <a:off x="4370970" y="4286097"/>
            <a:ext cx="1135179" cy="2334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28E907C-B2C8-92CD-D49E-561896E4BF13}"/>
              </a:ext>
            </a:extLst>
          </p:cNvPr>
          <p:cNvSpPr txBox="1"/>
          <p:nvPr/>
        </p:nvSpPr>
        <p:spPr>
          <a:xfrm>
            <a:off x="1727412" y="4342528"/>
            <a:ext cx="291034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ea typeface="Calibri"/>
                <a:cs typeface="Calibri"/>
              </a:rPr>
              <a:t>Promotion images to attract more </a:t>
            </a:r>
            <a:r>
              <a:rPr lang="en-US" sz="1200" dirty="0">
                <a:ea typeface="Calibri"/>
                <a:cs typeface="Calibri"/>
              </a:rPr>
              <a:t>customers and make it more aesthetically pleasing </a:t>
            </a:r>
            <a:endParaRPr lang="en-US" sz="1400" dirty="0"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95F3AC4-00E4-B75A-49F3-D11CFC6383FE}"/>
              </a:ext>
            </a:extLst>
          </p:cNvPr>
          <p:cNvCxnSpPr/>
          <p:nvPr/>
        </p:nvCxnSpPr>
        <p:spPr>
          <a:xfrm flipH="1">
            <a:off x="4455843" y="4975692"/>
            <a:ext cx="678985" cy="456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61A83BF-DA6C-3178-9D00-EC36997DB9EA}"/>
              </a:ext>
            </a:extLst>
          </p:cNvPr>
          <p:cNvSpPr txBox="1"/>
          <p:nvPr/>
        </p:nvSpPr>
        <p:spPr>
          <a:xfrm>
            <a:off x="795686" y="1251879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81926F-DEBF-BEE2-CAFA-5EEB337E9990}"/>
              </a:ext>
            </a:extLst>
          </p:cNvPr>
          <p:cNvSpPr txBox="1"/>
          <p:nvPr/>
        </p:nvSpPr>
        <p:spPr>
          <a:xfrm>
            <a:off x="2138242" y="5291139"/>
            <a:ext cx="240140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ea typeface="Calibri"/>
                <a:cs typeface="Calibri"/>
              </a:rPr>
              <a:t>Where the </a:t>
            </a:r>
            <a:r>
              <a:rPr lang="en-US" sz="1200">
                <a:ea typeface="Calibri"/>
                <a:cs typeface="Calibri"/>
              </a:rPr>
              <a:t>users can </a:t>
            </a:r>
            <a:r>
              <a:rPr lang="en-US" sz="1200" dirty="0">
                <a:ea typeface="Calibri"/>
                <a:cs typeface="Calibri"/>
              </a:rPr>
              <a:t>exist out their account</a:t>
            </a:r>
            <a:endParaRPr lang="en-US" sz="1200"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79142B0-C000-5635-23EB-4AD6576C0F8C}"/>
              </a:ext>
            </a:extLst>
          </p:cNvPr>
          <p:cNvCxnSpPr/>
          <p:nvPr/>
        </p:nvCxnSpPr>
        <p:spPr>
          <a:xfrm>
            <a:off x="7801938" y="5115015"/>
            <a:ext cx="86277" cy="4437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9A0DBAC-0100-CD64-A513-E5EF4292375A}"/>
              </a:ext>
            </a:extLst>
          </p:cNvPr>
          <p:cNvSpPr txBox="1"/>
          <p:nvPr/>
        </p:nvSpPr>
        <p:spPr>
          <a:xfrm>
            <a:off x="7562689" y="5565866"/>
            <a:ext cx="313873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ea typeface="Calibri"/>
                <a:cs typeface="Calibri"/>
              </a:rPr>
              <a:t>Help page where the user is taken to a chat box where they can ask any questions and </a:t>
            </a:r>
            <a:r>
              <a:rPr lang="en-US" sz="1200">
                <a:ea typeface="Calibri"/>
                <a:cs typeface="Calibri"/>
              </a:rPr>
              <a:t>communicate with the company.</a:t>
            </a:r>
          </a:p>
        </p:txBody>
      </p:sp>
    </p:spTree>
    <p:extLst>
      <p:ext uri="{BB962C8B-B14F-4D97-AF65-F5344CB8AC3E}">
        <p14:creationId xmlns:p14="http://schemas.microsoft.com/office/powerpoint/2010/main" val="4132462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3E945-082A-F006-AD43-B659ECEAD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9F72D88B-9B2F-A46B-D94A-E15A05BEA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135" y="1155927"/>
            <a:ext cx="5331733" cy="4408263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5685EB4-2831-549C-2066-32FEE905BC67}"/>
              </a:ext>
            </a:extLst>
          </p:cNvPr>
          <p:cNvCxnSpPr/>
          <p:nvPr/>
        </p:nvCxnSpPr>
        <p:spPr>
          <a:xfrm flipH="1" flipV="1">
            <a:off x="6132090" y="1379189"/>
            <a:ext cx="169746" cy="6577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BA596A0-6CB4-AAB5-84C0-CD3BA09DC649}"/>
              </a:ext>
            </a:extLst>
          </p:cNvPr>
          <p:cNvSpPr txBox="1"/>
          <p:nvPr/>
        </p:nvSpPr>
        <p:spPr>
          <a:xfrm>
            <a:off x="5733301" y="1005558"/>
            <a:ext cx="142162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>
                <a:ea typeface="Calibri"/>
                <a:cs typeface="Calibri"/>
              </a:rPr>
              <a:t> </a:t>
            </a:r>
            <a:r>
              <a:rPr lang="en-US" sz="1100">
                <a:ea typeface="Calibri"/>
                <a:cs typeface="Calibri"/>
              </a:rPr>
              <a:t>name of the company 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98DC97E-EBBD-920D-3639-1F231D5DC740}"/>
              </a:ext>
            </a:extLst>
          </p:cNvPr>
          <p:cNvCxnSpPr/>
          <p:nvPr/>
        </p:nvCxnSpPr>
        <p:spPr>
          <a:xfrm flipH="1" flipV="1">
            <a:off x="4554125" y="1824321"/>
            <a:ext cx="531010" cy="340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B4C104E-7A4A-3F65-494A-12E47528F499}"/>
              </a:ext>
            </a:extLst>
          </p:cNvPr>
          <p:cNvSpPr txBox="1"/>
          <p:nvPr/>
        </p:nvSpPr>
        <p:spPr>
          <a:xfrm>
            <a:off x="3545702" y="1612721"/>
            <a:ext cx="218850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ea typeface="Calibri"/>
                <a:cs typeface="Calibri"/>
              </a:rPr>
              <a:t>Brand identity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5618A80-0926-3733-29A2-C5597DBA5906}"/>
              </a:ext>
            </a:extLst>
          </p:cNvPr>
          <p:cNvCxnSpPr/>
          <p:nvPr/>
        </p:nvCxnSpPr>
        <p:spPr>
          <a:xfrm flipV="1">
            <a:off x="7659255" y="1555120"/>
            <a:ext cx="50899" cy="5633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06A6AA9-FCB2-2A85-6D5D-6BC37C0FCC0F}"/>
              </a:ext>
            </a:extLst>
          </p:cNvPr>
          <p:cNvSpPr txBox="1"/>
          <p:nvPr/>
        </p:nvSpPr>
        <p:spPr>
          <a:xfrm>
            <a:off x="7405940" y="1069379"/>
            <a:ext cx="241800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ea typeface="Calibri"/>
                <a:cs typeface="Calibri"/>
              </a:rPr>
              <a:t>Staff profile where they can store and </a:t>
            </a:r>
            <a:r>
              <a:rPr lang="en-US" sz="1200" dirty="0">
                <a:ea typeface="Calibri"/>
                <a:cs typeface="Calibri"/>
              </a:rPr>
              <a:t>edit their information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5D5CA1A-3E20-8404-1C6B-B9F259651856}"/>
              </a:ext>
            </a:extLst>
          </p:cNvPr>
          <p:cNvCxnSpPr/>
          <p:nvPr/>
        </p:nvCxnSpPr>
        <p:spPr>
          <a:xfrm flipH="1" flipV="1">
            <a:off x="4449727" y="2435747"/>
            <a:ext cx="606933" cy="229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973EEC3-E86B-7D03-0816-ECFF35AF95F1}"/>
              </a:ext>
            </a:extLst>
          </p:cNvPr>
          <p:cNvSpPr txBox="1"/>
          <p:nvPr/>
        </p:nvSpPr>
        <p:spPr>
          <a:xfrm>
            <a:off x="2089716" y="2124796"/>
            <a:ext cx="273237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ea typeface="Calibri"/>
                <a:cs typeface="Calibri"/>
              </a:rPr>
              <a:t>Takes the staff to the </a:t>
            </a:r>
            <a:r>
              <a:rPr lang="en-US" sz="1200" dirty="0" err="1">
                <a:ea typeface="Calibri"/>
                <a:cs typeface="Calibri"/>
              </a:rPr>
              <a:t>notfication</a:t>
            </a:r>
            <a:r>
              <a:rPr lang="en-US" sz="1200" dirty="0">
                <a:ea typeface="Calibri"/>
                <a:cs typeface="Calibri"/>
              </a:rPr>
              <a:t> page where they can send out </a:t>
            </a:r>
            <a:r>
              <a:rPr lang="en-US" sz="1200" dirty="0" err="1">
                <a:ea typeface="Calibri"/>
                <a:cs typeface="Calibri"/>
              </a:rPr>
              <a:t>notfications</a:t>
            </a:r>
            <a:r>
              <a:rPr lang="en-US" sz="1200" dirty="0">
                <a:ea typeface="Calibri"/>
                <a:cs typeface="Calibri"/>
              </a:rPr>
              <a:t> when a parcel is out for delivery.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CF7A98E-88E2-B828-D29C-184AFED61F26}"/>
              </a:ext>
            </a:extLst>
          </p:cNvPr>
          <p:cNvCxnSpPr/>
          <p:nvPr/>
        </p:nvCxnSpPr>
        <p:spPr>
          <a:xfrm flipV="1">
            <a:off x="6970213" y="2127495"/>
            <a:ext cx="1186013" cy="3930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E5745F9-0A45-056C-6398-826E142DA4FD}"/>
              </a:ext>
            </a:extLst>
          </p:cNvPr>
          <p:cNvCxnSpPr/>
          <p:nvPr/>
        </p:nvCxnSpPr>
        <p:spPr>
          <a:xfrm flipV="1">
            <a:off x="7903818" y="2737160"/>
            <a:ext cx="445584" cy="848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07AD0AB-95CB-92D7-8F65-632665315BF3}"/>
              </a:ext>
            </a:extLst>
          </p:cNvPr>
          <p:cNvCxnSpPr/>
          <p:nvPr/>
        </p:nvCxnSpPr>
        <p:spPr>
          <a:xfrm>
            <a:off x="6975811" y="3168198"/>
            <a:ext cx="1366334" cy="270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B3B44BE-508F-DAE4-53B9-8033A87A7691}"/>
              </a:ext>
            </a:extLst>
          </p:cNvPr>
          <p:cNvSpPr txBox="1"/>
          <p:nvPr/>
        </p:nvSpPr>
        <p:spPr>
          <a:xfrm>
            <a:off x="8298083" y="3236311"/>
            <a:ext cx="204756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ea typeface="Calibri"/>
                <a:cs typeface="Calibri"/>
              </a:rPr>
              <a:t>Allows staff to access any tabs </a:t>
            </a:r>
            <a:r>
              <a:rPr lang="en-US" sz="1200" dirty="0">
                <a:ea typeface="Calibri"/>
                <a:cs typeface="Calibri"/>
              </a:rPr>
              <a:t>in a much faster way</a:t>
            </a:r>
            <a:endParaRPr lang="en-US" sz="12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EFA7C3F-72CE-C78E-4A88-22F5BF34FE0F}"/>
              </a:ext>
            </a:extLst>
          </p:cNvPr>
          <p:cNvCxnSpPr/>
          <p:nvPr/>
        </p:nvCxnSpPr>
        <p:spPr>
          <a:xfrm>
            <a:off x="7974730" y="3603759"/>
            <a:ext cx="340633" cy="5862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34E550A-8148-6E66-8B23-0BA63D3E6977}"/>
              </a:ext>
            </a:extLst>
          </p:cNvPr>
          <p:cNvCxnSpPr/>
          <p:nvPr/>
        </p:nvCxnSpPr>
        <p:spPr>
          <a:xfrm flipH="1" flipV="1">
            <a:off x="4069524" y="3268336"/>
            <a:ext cx="878832" cy="2834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886A496-5C35-ACE3-2FFB-1DA2AF4FAC79}"/>
              </a:ext>
            </a:extLst>
          </p:cNvPr>
          <p:cNvSpPr txBox="1"/>
          <p:nvPr/>
        </p:nvSpPr>
        <p:spPr>
          <a:xfrm>
            <a:off x="8168989" y="1836989"/>
            <a:ext cx="2619542" cy="6535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ea typeface="Calibri"/>
                <a:cs typeface="Calibri"/>
              </a:rPr>
              <a:t>Booking page which takes the staff to </a:t>
            </a:r>
            <a:r>
              <a:rPr lang="en-US" sz="1200" dirty="0">
                <a:ea typeface="Calibri"/>
                <a:cs typeface="Calibri"/>
              </a:rPr>
              <a:t>where all their booking they’ve made are stored.</a:t>
            </a:r>
            <a:endParaRPr lang="en-US" sz="1400" dirty="0"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5D3BA58-B9FA-7C07-4A3E-1D7CD0E321A2}"/>
              </a:ext>
            </a:extLst>
          </p:cNvPr>
          <p:cNvCxnSpPr/>
          <p:nvPr/>
        </p:nvCxnSpPr>
        <p:spPr>
          <a:xfrm flipH="1">
            <a:off x="4370970" y="4133697"/>
            <a:ext cx="1715750" cy="3785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FB9A66B-F640-E84E-7172-B5FE1CCA707F}"/>
              </a:ext>
            </a:extLst>
          </p:cNvPr>
          <p:cNvSpPr txBox="1"/>
          <p:nvPr/>
        </p:nvSpPr>
        <p:spPr>
          <a:xfrm>
            <a:off x="2431354" y="4320757"/>
            <a:ext cx="221366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ea typeface="Calibri"/>
                <a:cs typeface="Calibri"/>
              </a:rPr>
              <a:t>Promotion images to make it more aesthetically </a:t>
            </a:r>
            <a:r>
              <a:rPr lang="en-US" sz="1200" dirty="0">
                <a:ea typeface="Calibri"/>
                <a:cs typeface="Calibri"/>
              </a:rPr>
              <a:t>pleasing </a:t>
            </a:r>
            <a:endParaRPr lang="en-US" sz="1400" dirty="0"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47CF1AB-30A3-875F-C180-16EEC84FDBF9}"/>
              </a:ext>
            </a:extLst>
          </p:cNvPr>
          <p:cNvCxnSpPr/>
          <p:nvPr/>
        </p:nvCxnSpPr>
        <p:spPr>
          <a:xfrm flipH="1">
            <a:off x="4484871" y="5084549"/>
            <a:ext cx="497557" cy="3836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4B4FB3B-9899-1C1D-1FF6-B7C79A75C19F}"/>
              </a:ext>
            </a:extLst>
          </p:cNvPr>
          <p:cNvSpPr txBox="1"/>
          <p:nvPr/>
        </p:nvSpPr>
        <p:spPr>
          <a:xfrm>
            <a:off x="795686" y="1251879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720574-DA9C-BD8B-E34A-5CFB6D6D449A}"/>
              </a:ext>
            </a:extLst>
          </p:cNvPr>
          <p:cNvSpPr txBox="1"/>
          <p:nvPr/>
        </p:nvSpPr>
        <p:spPr>
          <a:xfrm>
            <a:off x="2138242" y="5291139"/>
            <a:ext cx="240140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ea typeface="Calibri"/>
                <a:cs typeface="Calibri"/>
              </a:rPr>
              <a:t>Where the staff</a:t>
            </a:r>
            <a:r>
              <a:rPr lang="en-US" sz="1200" dirty="0">
                <a:ea typeface="Calibri"/>
                <a:cs typeface="Calibri"/>
              </a:rPr>
              <a:t> can exist out their account</a:t>
            </a:r>
            <a:endParaRPr lang="en-US" sz="1200"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48841FA-5DD6-561D-B733-4753A009696A}"/>
              </a:ext>
            </a:extLst>
          </p:cNvPr>
          <p:cNvCxnSpPr/>
          <p:nvPr/>
        </p:nvCxnSpPr>
        <p:spPr>
          <a:xfrm>
            <a:off x="7830967" y="5071472"/>
            <a:ext cx="86277" cy="4437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D6704B3-4E2A-E5C6-117A-709C570EF537}"/>
              </a:ext>
            </a:extLst>
          </p:cNvPr>
          <p:cNvSpPr txBox="1"/>
          <p:nvPr/>
        </p:nvSpPr>
        <p:spPr>
          <a:xfrm>
            <a:off x="7562689" y="5565866"/>
            <a:ext cx="313873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ea typeface="Calibri"/>
                <a:cs typeface="Calibri"/>
              </a:rPr>
              <a:t>Help page where the user is taken to a chat box where they can ask any questions and </a:t>
            </a:r>
            <a:r>
              <a:rPr lang="en-US" sz="1200">
                <a:ea typeface="Calibri"/>
                <a:cs typeface="Calibri"/>
              </a:rPr>
              <a:t>communicate with the company.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DE2399A-E2B2-0D8B-E404-B4846C48C447}"/>
              </a:ext>
            </a:extLst>
          </p:cNvPr>
          <p:cNvSpPr txBox="1"/>
          <p:nvPr/>
        </p:nvSpPr>
        <p:spPr>
          <a:xfrm>
            <a:off x="2042201" y="3128564"/>
            <a:ext cx="2320751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ea typeface="Calibri"/>
                <a:cs typeface="Calibri"/>
              </a:rPr>
              <a:t>Schedule page which takes the staff to a Callender where they can check for any future </a:t>
            </a:r>
            <a:r>
              <a:rPr lang="en-US" sz="1200">
                <a:ea typeface="Calibri"/>
                <a:cs typeface="Calibri"/>
              </a:rPr>
              <a:t>bookings</a:t>
            </a:r>
            <a:r>
              <a:rPr lang="en-US" sz="1200" dirty="0">
                <a:ea typeface="Calibri"/>
                <a:cs typeface="Calibri"/>
              </a:rPr>
              <a:t> and availability.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1C57F24-D576-D5C0-536D-55D4E9995826}"/>
              </a:ext>
            </a:extLst>
          </p:cNvPr>
          <p:cNvSpPr txBox="1"/>
          <p:nvPr/>
        </p:nvSpPr>
        <p:spPr>
          <a:xfrm>
            <a:off x="8296273" y="3931572"/>
            <a:ext cx="257032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ea typeface="Calibri"/>
                <a:cs typeface="Calibri"/>
              </a:rPr>
              <a:t>Staff is taken to a page where they can store and record any failed delivery </a:t>
            </a:r>
            <a:r>
              <a:rPr lang="en-US" sz="1200">
                <a:ea typeface="Calibri"/>
                <a:cs typeface="Calibri"/>
              </a:rPr>
              <a:t>attempts as well as record completed deliveries with proof of delivery.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29CD1A1-CBDE-D184-CDAA-DB6E7CF2CB9B}"/>
              </a:ext>
            </a:extLst>
          </p:cNvPr>
          <p:cNvSpPr txBox="1"/>
          <p:nvPr/>
        </p:nvSpPr>
        <p:spPr>
          <a:xfrm>
            <a:off x="8298293" y="2489186"/>
            <a:ext cx="325294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ea typeface="Calibri"/>
                <a:cs typeface="Calibri"/>
              </a:rPr>
              <a:t>Takes the staff to the block out page where they can remove any bookings that they are not </a:t>
            </a:r>
            <a:r>
              <a:rPr lang="en-US" sz="1200">
                <a:ea typeface="Calibri"/>
                <a:cs typeface="Calibri"/>
              </a:rPr>
              <a:t>available for.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468921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06C3D61C462B4FAC790902538338B9" ma:contentTypeVersion="4" ma:contentTypeDescription="Create a new document." ma:contentTypeScope="" ma:versionID="d0e86e37fef4940c4fc1bc6580632793">
  <xsd:schema xmlns:xsd="http://www.w3.org/2001/XMLSchema" xmlns:xs="http://www.w3.org/2001/XMLSchema" xmlns:p="http://schemas.microsoft.com/office/2006/metadata/properties" xmlns:ns2="123e3e1e-ac57-46d7-b1b5-5fe94ebdbca8" targetNamespace="http://schemas.microsoft.com/office/2006/metadata/properties" ma:root="true" ma:fieldsID="b2f6943d7a41baf0dd37ab318e039d22" ns2:_="">
    <xsd:import namespace="123e3e1e-ac57-46d7-b1b5-5fe94ebdbca8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3e3e1e-ac57-46d7-b1b5-5fe94ebdbca8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123e3e1e-ac57-46d7-b1b5-5fe94ebdbca8" xsi:nil="true"/>
  </documentManagement>
</p:properties>
</file>

<file path=customXml/itemProps1.xml><?xml version="1.0" encoding="utf-8"?>
<ds:datastoreItem xmlns:ds="http://schemas.openxmlformats.org/officeDocument/2006/customXml" ds:itemID="{05E843F4-B8D7-4161-BCB9-E4EED2F0E3D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B18EB5A-2052-492C-B51B-A3C9161218E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3e3e1e-ac57-46d7-b1b5-5fe94ebdbc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2B9FC69-48ED-4BA5-A2A5-79E9D949B592}">
  <ds:schemaRefs>
    <ds:schemaRef ds:uri="http://schemas.microsoft.com/office/2006/metadata/properties"/>
    <ds:schemaRef ds:uri="http://schemas.microsoft.com/office/infopath/2007/PartnerControls"/>
    <ds:schemaRef ds:uri="123e3e1e-ac57-46d7-b1b5-5fe94ebdbca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721</cp:revision>
  <dcterms:created xsi:type="dcterms:W3CDTF">2013-07-15T20:26:40Z</dcterms:created>
  <dcterms:modified xsi:type="dcterms:W3CDTF">2026-07-31T14:38:55Z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0x010100B006C3D61C462B4FAC790902538338B9</vt:lpwstr>
  </property>
</Properties>
</file>